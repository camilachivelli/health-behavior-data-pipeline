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Open Sauce" panose="020B0604020202020204" charset="0"/>
      <p:regular r:id="rId11"/>
    </p:embeddedFont>
    <p:embeddedFont>
      <p:font typeface="Open Sauce Bold" panose="020B0604020202020204" charset="0"/>
      <p:regular r:id="rId12"/>
    </p:embeddedFont>
    <p:embeddedFont>
      <p:font typeface="Open Sauce Italics" panose="020B0604020202020204" charset="0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0000800000000000000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88736" y="3071098"/>
            <a:ext cx="10910528" cy="1731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40"/>
              </a:lnSpc>
            </a:pPr>
            <a:r>
              <a:rPr lang="en-US" sz="13040" spc="-782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Pitch Deck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71329" y="8433452"/>
            <a:ext cx="294534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1B0D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Camila Chivelli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18762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DATA ANALYST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642" y="4916805"/>
            <a:ext cx="1112471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BEHAVIORAL HEALTH ANALYTICS: END-TO-END DATA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860684"/>
            <a:ext cx="1050505" cy="1263766"/>
          </a:xfrm>
          <a:custGeom>
            <a:avLst/>
            <a:gdLst/>
            <a:ahLst/>
            <a:cxnLst/>
            <a:rect l="l" t="t" r="r" b="b"/>
            <a:pathLst>
              <a:path w="1050505" h="1263766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88914" y="3860684"/>
            <a:ext cx="1117351" cy="1151414"/>
          </a:xfrm>
          <a:custGeom>
            <a:avLst/>
            <a:gdLst/>
            <a:ahLst/>
            <a:cxnLst/>
            <a:rect l="l" t="t" r="r" b="b"/>
            <a:pathLst>
              <a:path w="1117351" h="1151414">
                <a:moveTo>
                  <a:pt x="0" y="0"/>
                </a:moveTo>
                <a:lnTo>
                  <a:pt x="1117351" y="0"/>
                </a:lnTo>
                <a:lnTo>
                  <a:pt x="1117351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49128" y="3326218"/>
            <a:ext cx="2325351" cy="1685880"/>
          </a:xfrm>
          <a:custGeom>
            <a:avLst/>
            <a:gdLst/>
            <a:ahLst/>
            <a:cxnLst/>
            <a:rect l="l" t="t" r="r" b="b"/>
            <a:pathLst>
              <a:path w="2325351" h="1685880">
                <a:moveTo>
                  <a:pt x="0" y="0"/>
                </a:moveTo>
                <a:lnTo>
                  <a:pt x="2325351" y="0"/>
                </a:lnTo>
                <a:lnTo>
                  <a:pt x="2325351" y="1685880"/>
                </a:lnTo>
                <a:lnTo>
                  <a:pt x="0" y="1685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989777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67375"/>
            <a:ext cx="27468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425565"/>
            <a:ext cx="4310172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Obesity is a multi-factorial health issue. Analyzing it requires cross-referencing dietary habits, physical activity, and genetics without introducing analytical bias.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8914" y="5667375"/>
            <a:ext cx="30756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Technical Challenge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8914" y="6425565"/>
            <a:ext cx="4310172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Processing a hybrid dataset (real + SMOTE synthetic data) containing decimal inconsistencies, potential duplicates, and out-of-range artifacts.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49128" y="5667375"/>
            <a:ext cx="27468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Objective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49128" y="6425565"/>
            <a:ext cx="4310172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Build an automated Python pipeline to clean the data, validate clinical hypotheses, and segment population archetypes using Unsupervised Learning (K-Means).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89777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Roadmap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1528" y="3576179"/>
            <a:ext cx="468236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 Clean</a:t>
            </a:r>
            <a:r>
              <a:rPr lang="en-US" sz="24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528" y="4202924"/>
            <a:ext cx="450235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Manag</a:t>
            </a:r>
            <a:r>
              <a:rPr lang="en-US" sz="21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ed noise and applied Domain Constraints to guarantee high Data Quality and integrity.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5715000"/>
            <a:ext cx="16230600" cy="0"/>
          </a:xfrm>
          <a:prstGeom prst="line">
            <a:avLst/>
          </a:prstGeom>
          <a:ln w="76200" cap="flat">
            <a:solidFill>
              <a:srgbClr val="8C7753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6" name="AutoShape 6"/>
          <p:cNvSpPr/>
          <p:nvPr/>
        </p:nvSpPr>
        <p:spPr>
          <a:xfrm>
            <a:off x="1331126" y="3774335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4757823" y="6715126"/>
            <a:ext cx="3928977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EDA &amp; Feature Isol</a:t>
            </a:r>
            <a:r>
              <a:rPr lang="en-US" sz="2400" u="none" strike="noStrike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57823" y="7341870"/>
            <a:ext cx="3763021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Perf</a:t>
            </a:r>
            <a:r>
              <a:rPr lang="en-US" sz="21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ormed EDA and prevented Data Leakage by isolating target variables.</a:t>
            </a:r>
          </a:p>
        </p:txBody>
      </p:sp>
      <p:sp>
        <p:nvSpPr>
          <p:cNvPr id="9" name="AutoShape 9"/>
          <p:cNvSpPr/>
          <p:nvPr/>
        </p:nvSpPr>
        <p:spPr>
          <a:xfrm>
            <a:off x="4437421" y="5703712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" name="AutoShape 10"/>
          <p:cNvSpPr/>
          <p:nvPr/>
        </p:nvSpPr>
        <p:spPr>
          <a:xfrm>
            <a:off x="8196993" y="3774335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1303288" y="5703712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AutoShape 12"/>
          <p:cNvSpPr/>
          <p:nvPr/>
        </p:nvSpPr>
        <p:spPr>
          <a:xfrm>
            <a:off x="15070109" y="3774335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8520843" y="3576179"/>
            <a:ext cx="296786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Machine Lea</a:t>
            </a:r>
            <a:r>
              <a:rPr lang="en-US" sz="24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20843" y="4202924"/>
            <a:ext cx="398727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Applied K-Means Clust</a:t>
            </a:r>
            <a:r>
              <a:rPr lang="en-US" sz="21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ering and Feature Scaling to create 4 behavioral Archetypes.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27138" y="6715125"/>
            <a:ext cx="376302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Modul</a:t>
            </a:r>
            <a:r>
              <a:rPr lang="en-US" sz="24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 Pipeline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27138" y="7341870"/>
            <a:ext cx="3763021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Built a Python Modular Pipeline</a:t>
            </a:r>
            <a:r>
              <a:rPr lang="en-US" sz="21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and  Documentation for production.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90158" y="3576179"/>
            <a:ext cx="1678642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Action</a:t>
            </a:r>
            <a:r>
              <a:rPr lang="en-US" sz="2400" b="1" u="none" strike="noStrik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able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68430" y="1678670"/>
            <a:ext cx="9890870" cy="7429297"/>
            <a:chOff x="0" y="0"/>
            <a:chExt cx="2605003" cy="19566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5003" cy="1956687"/>
            </a:xfrm>
            <a:custGeom>
              <a:avLst/>
              <a:gdLst/>
              <a:ahLst/>
              <a:cxnLst/>
              <a:rect l="l" t="t" r="r" b="b"/>
              <a:pathLst>
                <a:path w="2605003" h="1956687">
                  <a:moveTo>
                    <a:pt x="26613" y="0"/>
                  </a:moveTo>
                  <a:lnTo>
                    <a:pt x="2578390" y="0"/>
                  </a:lnTo>
                  <a:cubicBezTo>
                    <a:pt x="2593088" y="0"/>
                    <a:pt x="2605003" y="11915"/>
                    <a:pt x="2605003" y="26613"/>
                  </a:cubicBezTo>
                  <a:lnTo>
                    <a:pt x="2605003" y="1930074"/>
                  </a:lnTo>
                  <a:cubicBezTo>
                    <a:pt x="2605003" y="1937133"/>
                    <a:pt x="2602199" y="1943902"/>
                    <a:pt x="2597208" y="1948893"/>
                  </a:cubicBezTo>
                  <a:cubicBezTo>
                    <a:pt x="2592217" y="1953883"/>
                    <a:pt x="2585448" y="1956687"/>
                    <a:pt x="2578390" y="1956687"/>
                  </a:cubicBezTo>
                  <a:lnTo>
                    <a:pt x="26613" y="1956687"/>
                  </a:lnTo>
                  <a:cubicBezTo>
                    <a:pt x="11915" y="1956687"/>
                    <a:pt x="0" y="1944772"/>
                    <a:pt x="0" y="1930074"/>
                  </a:cubicBezTo>
                  <a:lnTo>
                    <a:pt x="0" y="26613"/>
                  </a:lnTo>
                  <a:cubicBezTo>
                    <a:pt x="0" y="11915"/>
                    <a:pt x="11915" y="0"/>
                    <a:pt x="26613" y="0"/>
                  </a:cubicBezTo>
                  <a:close/>
                </a:path>
              </a:pathLst>
            </a:custGeom>
            <a:solidFill>
              <a:srgbClr val="FAF7F0"/>
            </a:solidFill>
            <a:ln w="19050" cap="rnd">
              <a:solidFill>
                <a:srgbClr val="8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05003" cy="2013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428651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7" y="0"/>
                </a:lnTo>
                <a:lnTo>
                  <a:pt x="6017177" y="5929335"/>
                </a:lnTo>
                <a:lnTo>
                  <a:pt x="0" y="5929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98066" y="3119034"/>
            <a:ext cx="4478445" cy="4548569"/>
          </a:xfrm>
          <a:custGeom>
            <a:avLst/>
            <a:gdLst/>
            <a:ahLst/>
            <a:cxnLst/>
            <a:rect l="l" t="t" r="r" b="b"/>
            <a:pathLst>
              <a:path w="4478445" h="4548569">
                <a:moveTo>
                  <a:pt x="0" y="0"/>
                </a:moveTo>
                <a:lnTo>
                  <a:pt x="4478445" y="0"/>
                </a:lnTo>
                <a:lnTo>
                  <a:pt x="4478445" y="4548569"/>
                </a:lnTo>
                <a:lnTo>
                  <a:pt x="0" y="454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48" b="-154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42499" y="2492278"/>
            <a:ext cx="7588549" cy="1382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64"/>
              </a:lnSpc>
              <a:spcBef>
                <a:spcPct val="0"/>
              </a:spcBef>
            </a:pPr>
            <a:r>
              <a:rPr lang="en-US" sz="5418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 Exploration and Visualization Tools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4465843"/>
            <a:ext cx="741100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Data Manipulation &amp; Analytics: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Pandas</a:t>
            </a: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NumPy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2499" y="4332233"/>
            <a:ext cx="780254" cy="699655"/>
            <a:chOff x="0" y="0"/>
            <a:chExt cx="1040339" cy="932873"/>
          </a:xfrm>
        </p:grpSpPr>
        <p:grpSp>
          <p:nvGrpSpPr>
            <p:cNvPr id="10" name="Group 10"/>
            <p:cNvGrpSpPr/>
            <p:nvPr/>
          </p:nvGrpSpPr>
          <p:grpSpPr>
            <a:xfrm>
              <a:off x="53733" y="0"/>
              <a:ext cx="932873" cy="932873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C7753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97722"/>
              <a:ext cx="1040339" cy="6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3"/>
                </a:lnSpc>
                <a:spcBef>
                  <a:spcPct val="0"/>
                </a:spcBef>
              </a:pPr>
              <a:r>
                <a:rPr lang="en-US" sz="278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00" y="5659564"/>
            <a:ext cx="741100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Machine Learning &amp; Modeling: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Scikit-Learn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142499" y="5486794"/>
            <a:ext cx="780254" cy="699655"/>
            <a:chOff x="0" y="0"/>
            <a:chExt cx="1040339" cy="932873"/>
          </a:xfrm>
        </p:grpSpPr>
        <p:grpSp>
          <p:nvGrpSpPr>
            <p:cNvPr id="16" name="Group 16"/>
            <p:cNvGrpSpPr/>
            <p:nvPr/>
          </p:nvGrpSpPr>
          <p:grpSpPr>
            <a:xfrm>
              <a:off x="53733" y="0"/>
              <a:ext cx="932873" cy="932873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C7753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97722"/>
              <a:ext cx="1040339" cy="6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3"/>
                </a:lnSpc>
                <a:spcBef>
                  <a:spcPct val="0"/>
                </a:spcBef>
              </a:pPr>
              <a:r>
                <a:rPr lang="en-US" sz="278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144000" y="6774965"/>
            <a:ext cx="741100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Data Visualization: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Matplotlib</a:t>
            </a: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Seaborn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142499" y="6641355"/>
            <a:ext cx="780254" cy="699655"/>
            <a:chOff x="0" y="0"/>
            <a:chExt cx="1040339" cy="932873"/>
          </a:xfrm>
        </p:grpSpPr>
        <p:grpSp>
          <p:nvGrpSpPr>
            <p:cNvPr id="22" name="Group 22"/>
            <p:cNvGrpSpPr/>
            <p:nvPr/>
          </p:nvGrpSpPr>
          <p:grpSpPr>
            <a:xfrm>
              <a:off x="53733" y="0"/>
              <a:ext cx="932873" cy="932873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C7753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97722"/>
              <a:ext cx="1040339" cy="6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3"/>
                </a:lnSpc>
                <a:spcBef>
                  <a:spcPct val="0"/>
                </a:spcBef>
              </a:pPr>
              <a:r>
                <a:rPr lang="en-US" sz="278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42499" y="7795916"/>
            <a:ext cx="780254" cy="699655"/>
            <a:chOff x="0" y="0"/>
            <a:chExt cx="1040339" cy="932873"/>
          </a:xfrm>
        </p:grpSpPr>
        <p:grpSp>
          <p:nvGrpSpPr>
            <p:cNvPr id="27" name="Group 27"/>
            <p:cNvGrpSpPr/>
            <p:nvPr/>
          </p:nvGrpSpPr>
          <p:grpSpPr>
            <a:xfrm>
              <a:off x="53733" y="0"/>
              <a:ext cx="932873" cy="93287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C7753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0" y="97722"/>
              <a:ext cx="1040339" cy="6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3"/>
                </a:lnSpc>
                <a:spcBef>
                  <a:spcPct val="0"/>
                </a:spcBef>
              </a:pPr>
              <a:r>
                <a:rPr lang="en-US" sz="278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44000" y="7929526"/>
            <a:ext cx="741100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Environment &amp; Version Control: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3.x</a:t>
            </a: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Git</a:t>
            </a:r>
            <a:r>
              <a:rPr lang="en-US" sz="2100">
                <a:solidFill>
                  <a:srgbClr val="331B0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00" b="1">
                <a:solidFill>
                  <a:srgbClr val="331B0D"/>
                </a:solidFill>
                <a:latin typeface="Poppins Bold"/>
                <a:ea typeface="Poppins Bold"/>
                <a:cs typeface="Poppins Bold"/>
                <a:sym typeface="Poppins Bold"/>
              </a:rP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89777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3600450"/>
            <a:ext cx="6817607" cy="1543050"/>
            <a:chOff x="0" y="0"/>
            <a:chExt cx="1795584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584" cy="406400"/>
            </a:xfrm>
            <a:custGeom>
              <a:avLst/>
              <a:gdLst/>
              <a:ahLst/>
              <a:cxnLst/>
              <a:rect l="l" t="t" r="r" b="b"/>
              <a:pathLst>
                <a:path w="1795584" h="406400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8C775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128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H="1">
            <a:off x="9166269" y="5143500"/>
            <a:ext cx="0" cy="555930"/>
          </a:xfrm>
          <a:prstGeom prst="line">
            <a:avLst/>
          </a:prstGeom>
          <a:ln w="38100" cap="flat">
            <a:solidFill>
              <a:srgbClr val="8C7753">
                <a:alpha val="69804"/>
              </a:srgbClr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" name="Group 7"/>
          <p:cNvGrpSpPr/>
          <p:nvPr/>
        </p:nvGrpSpPr>
        <p:grpSpPr>
          <a:xfrm>
            <a:off x="6074871" y="3600450"/>
            <a:ext cx="3811973" cy="1543050"/>
            <a:chOff x="0" y="0"/>
            <a:chExt cx="1003976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3976" cy="406400"/>
            </a:xfrm>
            <a:custGeom>
              <a:avLst/>
              <a:gdLst/>
              <a:ahLst/>
              <a:cxnLst/>
              <a:rect l="l" t="t" r="r" b="b"/>
              <a:pathLst>
                <a:path w="1003976" h="406400">
                  <a:moveTo>
                    <a:pt x="0" y="0"/>
                  </a:moveTo>
                  <a:lnTo>
                    <a:pt x="800776" y="0"/>
                  </a:lnTo>
                  <a:lnTo>
                    <a:pt x="1003976" y="203200"/>
                  </a:lnTo>
                  <a:lnTo>
                    <a:pt x="80077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8000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77800" y="-47625"/>
              <a:ext cx="74997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107" y="3600450"/>
            <a:ext cx="3811973" cy="1543050"/>
            <a:chOff x="0" y="0"/>
            <a:chExt cx="1003976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3976" cy="406400"/>
            </a:xfrm>
            <a:custGeom>
              <a:avLst/>
              <a:gdLst/>
              <a:ahLst/>
              <a:cxnLst/>
              <a:rect l="l" t="t" r="r" b="b"/>
              <a:pathLst>
                <a:path w="1003976" h="406400">
                  <a:moveTo>
                    <a:pt x="0" y="0"/>
                  </a:moveTo>
                  <a:lnTo>
                    <a:pt x="800776" y="0"/>
                  </a:lnTo>
                  <a:lnTo>
                    <a:pt x="1003976" y="203200"/>
                  </a:lnTo>
                  <a:lnTo>
                    <a:pt x="80077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6000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47625"/>
              <a:ext cx="74997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213343" y="3600450"/>
            <a:ext cx="7311622" cy="1543050"/>
            <a:chOff x="0" y="0"/>
            <a:chExt cx="1925695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25695" cy="406400"/>
            </a:xfrm>
            <a:custGeom>
              <a:avLst/>
              <a:gdLst/>
              <a:ahLst/>
              <a:cxnLst/>
              <a:rect l="l" t="t" r="r" b="b"/>
              <a:pathLst>
                <a:path w="1925695" h="406400">
                  <a:moveTo>
                    <a:pt x="0" y="0"/>
                  </a:moveTo>
                  <a:lnTo>
                    <a:pt x="1722495" y="0"/>
                  </a:lnTo>
                  <a:lnTo>
                    <a:pt x="1925695" y="203200"/>
                  </a:lnTo>
                  <a:lnTo>
                    <a:pt x="172249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4000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47625"/>
              <a:ext cx="1671695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396149" y="4149094"/>
            <a:ext cx="100170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INPUT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37867" y="4149094"/>
            <a:ext cx="18284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CLEANING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04519" y="4149094"/>
            <a:ext cx="18284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73755" y="4149094"/>
            <a:ext cx="18284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OUTPUT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70333" y="5816210"/>
            <a:ext cx="4355740" cy="408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Dataset: ~2,100 behavioral health records (real &amp; synthetic SMOTE data).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Features: Biometric, habits, and lifestyle metrics (Age, Weight, FCVC, CH2O, etc.).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Challenge: Multi-dimensional unstructured data with synthetic noise and scale variance.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465265" y="5816210"/>
            <a:ext cx="5357470" cy="408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Quality Control: Applied Domain Constraints and Feature Scaling (StandardScaler).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Feature Engineering: Isolated target variables to strictly prevent Data Leakage.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Modeling: Applied K-Means Clustering (K=4) with Elbow &amp; Silhouette validation.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Architecture: Refactored into a Modular Python Pipeline (main.py).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61927" y="5816210"/>
            <a:ext cx="4355740" cy="408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 Behavioral Risk Archetypes: Clear population segmentation based on habits.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Production-Ready Repository: Clean codebase, modular structure, and /docs.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Actionable Insights: Data translated into strategic profiles for decision-making.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916051" y="4838178"/>
            <a:ext cx="0" cy="861252"/>
          </a:xfrm>
          <a:prstGeom prst="line">
            <a:avLst/>
          </a:prstGeom>
          <a:ln w="38100" cap="flat">
            <a:solidFill>
              <a:srgbClr val="8C7753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>
            <a:off x="14146540" y="5049555"/>
            <a:ext cx="0" cy="649876"/>
          </a:xfrm>
          <a:prstGeom prst="line">
            <a:avLst/>
          </a:prstGeom>
          <a:ln w="38100" cap="flat">
            <a:solidFill>
              <a:srgbClr val="8C7753">
                <a:alpha val="40000"/>
              </a:srgbClr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8816" y="-23486"/>
            <a:ext cx="18898644" cy="11615953"/>
            <a:chOff x="0" y="0"/>
            <a:chExt cx="1872449" cy="11508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2449" cy="1150891"/>
            </a:xfrm>
            <a:custGeom>
              <a:avLst/>
              <a:gdLst/>
              <a:ahLst/>
              <a:cxnLst/>
              <a:rect l="l" t="t" r="r" b="b"/>
              <a:pathLst>
                <a:path w="1872449" h="1150891">
                  <a:moveTo>
                    <a:pt x="1872449" y="0"/>
                  </a:moveTo>
                  <a:lnTo>
                    <a:pt x="1872449" y="1036591"/>
                  </a:lnTo>
                  <a:lnTo>
                    <a:pt x="936225" y="1150891"/>
                  </a:lnTo>
                  <a:lnTo>
                    <a:pt x="0" y="1036591"/>
                  </a:lnTo>
                  <a:lnTo>
                    <a:pt x="0" y="0"/>
                  </a:lnTo>
                  <a:lnTo>
                    <a:pt x="1872449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72449" cy="1084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4418" y="3261842"/>
            <a:ext cx="9080242" cy="2400755"/>
            <a:chOff x="0" y="0"/>
            <a:chExt cx="2391504" cy="632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91504" cy="632298"/>
            </a:xfrm>
            <a:custGeom>
              <a:avLst/>
              <a:gdLst/>
              <a:ahLst/>
              <a:cxnLst/>
              <a:rect l="l" t="t" r="r" b="b"/>
              <a:pathLst>
                <a:path w="2391504" h="632298">
                  <a:moveTo>
                    <a:pt x="28989" y="0"/>
                  </a:moveTo>
                  <a:lnTo>
                    <a:pt x="2362515" y="0"/>
                  </a:lnTo>
                  <a:cubicBezTo>
                    <a:pt x="2378525" y="0"/>
                    <a:pt x="2391504" y="12979"/>
                    <a:pt x="2391504" y="28989"/>
                  </a:cubicBezTo>
                  <a:lnTo>
                    <a:pt x="2391504" y="603309"/>
                  </a:lnTo>
                  <a:cubicBezTo>
                    <a:pt x="2391504" y="610997"/>
                    <a:pt x="2388450" y="618371"/>
                    <a:pt x="2383013" y="623807"/>
                  </a:cubicBezTo>
                  <a:cubicBezTo>
                    <a:pt x="2377577" y="629243"/>
                    <a:pt x="2370204" y="632298"/>
                    <a:pt x="2362515" y="632298"/>
                  </a:cubicBezTo>
                  <a:lnTo>
                    <a:pt x="28989" y="632298"/>
                  </a:lnTo>
                  <a:cubicBezTo>
                    <a:pt x="21300" y="632298"/>
                    <a:pt x="13927" y="629243"/>
                    <a:pt x="8491" y="623807"/>
                  </a:cubicBezTo>
                  <a:cubicBezTo>
                    <a:pt x="3054" y="618371"/>
                    <a:pt x="0" y="610997"/>
                    <a:pt x="0" y="603309"/>
                  </a:cubicBezTo>
                  <a:lnTo>
                    <a:pt x="0" y="28989"/>
                  </a:lnTo>
                  <a:cubicBezTo>
                    <a:pt x="0" y="21300"/>
                    <a:pt x="3054" y="13927"/>
                    <a:pt x="8491" y="8491"/>
                  </a:cubicBezTo>
                  <a:cubicBezTo>
                    <a:pt x="13927" y="3054"/>
                    <a:pt x="21300" y="0"/>
                    <a:pt x="28989" y="0"/>
                  </a:cubicBezTo>
                  <a:close/>
                </a:path>
              </a:pathLst>
            </a:custGeom>
            <a:ln w="19050" cap="rnd">
              <a:solidFill>
                <a:srgbClr val="8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391504" cy="689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5025" y="3853133"/>
            <a:ext cx="1209314" cy="1218173"/>
          </a:xfrm>
          <a:custGeom>
            <a:avLst/>
            <a:gdLst/>
            <a:ahLst/>
            <a:cxnLst/>
            <a:rect l="l" t="t" r="r" b="b"/>
            <a:pathLst>
              <a:path w="1209314" h="1218173">
                <a:moveTo>
                  <a:pt x="0" y="0"/>
                </a:moveTo>
                <a:lnTo>
                  <a:pt x="1209314" y="0"/>
                </a:lnTo>
                <a:lnTo>
                  <a:pt x="1209314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244418" y="5999254"/>
            <a:ext cx="9080242" cy="2400755"/>
            <a:chOff x="0" y="0"/>
            <a:chExt cx="2391504" cy="6322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91504" cy="632298"/>
            </a:xfrm>
            <a:custGeom>
              <a:avLst/>
              <a:gdLst/>
              <a:ahLst/>
              <a:cxnLst/>
              <a:rect l="l" t="t" r="r" b="b"/>
              <a:pathLst>
                <a:path w="2391504" h="632298">
                  <a:moveTo>
                    <a:pt x="28989" y="0"/>
                  </a:moveTo>
                  <a:lnTo>
                    <a:pt x="2362515" y="0"/>
                  </a:lnTo>
                  <a:cubicBezTo>
                    <a:pt x="2378525" y="0"/>
                    <a:pt x="2391504" y="12979"/>
                    <a:pt x="2391504" y="28989"/>
                  </a:cubicBezTo>
                  <a:lnTo>
                    <a:pt x="2391504" y="603309"/>
                  </a:lnTo>
                  <a:cubicBezTo>
                    <a:pt x="2391504" y="610997"/>
                    <a:pt x="2388450" y="618371"/>
                    <a:pt x="2383013" y="623807"/>
                  </a:cubicBezTo>
                  <a:cubicBezTo>
                    <a:pt x="2377577" y="629243"/>
                    <a:pt x="2370204" y="632298"/>
                    <a:pt x="2362515" y="632298"/>
                  </a:cubicBezTo>
                  <a:lnTo>
                    <a:pt x="28989" y="632298"/>
                  </a:lnTo>
                  <a:cubicBezTo>
                    <a:pt x="21300" y="632298"/>
                    <a:pt x="13927" y="629243"/>
                    <a:pt x="8491" y="623807"/>
                  </a:cubicBezTo>
                  <a:cubicBezTo>
                    <a:pt x="3054" y="618371"/>
                    <a:pt x="0" y="610997"/>
                    <a:pt x="0" y="603309"/>
                  </a:cubicBezTo>
                  <a:lnTo>
                    <a:pt x="0" y="28989"/>
                  </a:lnTo>
                  <a:cubicBezTo>
                    <a:pt x="0" y="21300"/>
                    <a:pt x="3054" y="13927"/>
                    <a:pt x="8491" y="8491"/>
                  </a:cubicBezTo>
                  <a:cubicBezTo>
                    <a:pt x="13927" y="3054"/>
                    <a:pt x="21300" y="0"/>
                    <a:pt x="28989" y="0"/>
                  </a:cubicBezTo>
                  <a:close/>
                </a:path>
              </a:pathLst>
            </a:custGeom>
            <a:ln w="19050" cap="rnd">
              <a:solidFill>
                <a:srgbClr val="8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391504" cy="689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601315" y="6590545"/>
            <a:ext cx="1252328" cy="1218173"/>
          </a:xfrm>
          <a:custGeom>
            <a:avLst/>
            <a:gdLst/>
            <a:ahLst/>
            <a:cxnLst/>
            <a:rect l="l" t="t" r="r" b="b"/>
            <a:pathLst>
              <a:path w="1252328" h="1218173">
                <a:moveTo>
                  <a:pt x="0" y="0"/>
                </a:moveTo>
                <a:lnTo>
                  <a:pt x="1252328" y="0"/>
                </a:lnTo>
                <a:lnTo>
                  <a:pt x="1252328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0829484" y="3034586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8" y="0"/>
                </a:lnTo>
                <a:lnTo>
                  <a:pt x="6017178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325235" y="3261842"/>
            <a:ext cx="5061094" cy="5138167"/>
          </a:xfrm>
          <a:custGeom>
            <a:avLst/>
            <a:gdLst/>
            <a:ahLst/>
            <a:cxnLst/>
            <a:rect l="l" t="t" r="r" b="b"/>
            <a:pathLst>
              <a:path w="5061094" h="5138167">
                <a:moveTo>
                  <a:pt x="0" y="0"/>
                </a:moveTo>
                <a:lnTo>
                  <a:pt x="5061095" y="0"/>
                </a:lnTo>
                <a:lnTo>
                  <a:pt x="5061095" y="5138167"/>
                </a:lnTo>
                <a:lnTo>
                  <a:pt x="0" y="5138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414813" y="1196651"/>
            <a:ext cx="11458374" cy="91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85"/>
              </a:lnSpc>
              <a:spcBef>
                <a:spcPct val="0"/>
              </a:spcBef>
            </a:pPr>
            <a:r>
              <a:rPr lang="en-US" sz="541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Key</a:t>
            </a:r>
            <a:r>
              <a:rPr lang="en-US" sz="5418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Discoveries &amp; Model Findings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89189" y="3512577"/>
            <a:ext cx="6384045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 Distinct Population Archetypes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Unsupervised K-Means successfully identified 4 clear risk profiles, mapping behavioral habits from baseline healthy lifestyles to multi-factor obesity risk without manual labeling.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15434" y="6249989"/>
            <a:ext cx="6384045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Clinical &amp; Domain Alignment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Behavioral risks (sedentary habits, high caloric intake) combine cumulatively. Unsupervised cluster patterns directly aligned with clinical weight categories, validating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173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-476250"/>
            <a:ext cx="18288000" cy="7614470"/>
            <a:chOff x="0" y="0"/>
            <a:chExt cx="1811948" cy="7544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1948" cy="754430"/>
            </a:xfrm>
            <a:custGeom>
              <a:avLst/>
              <a:gdLst/>
              <a:ahLst/>
              <a:cxnLst/>
              <a:rect l="l" t="t" r="r" b="b"/>
              <a:pathLst>
                <a:path w="1811948" h="754430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989777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What We Found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113212"/>
            <a:ext cx="4238166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Targeted Health Interventions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Enables tailored strategy design for specific risk profiles instead of applying one-size-fits-all medical or behavioral approaches.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24917" y="4113212"/>
            <a:ext cx="4238166" cy="259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Early Risk Detection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Categorizes new patient/user profiles instantly based on behavioral habits, predicting health risks prior to severe progression.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025208" y="4113212"/>
            <a:ext cx="4238166" cy="259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Scalable Framework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Built as a modular Python pipeline (main.py), allowing seamless model retraining as new dataset iterations become available.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708748" y="7658100"/>
            <a:ext cx="287050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i="1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Key Insight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26809" y="8416290"/>
            <a:ext cx="1023438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1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Data models are only as valuable as their ability to turn complex behavioral variables into clear, scalable decisions.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2531" y="3273835"/>
            <a:ext cx="28705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08748" y="3273835"/>
            <a:ext cx="28705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09039" y="3273835"/>
            <a:ext cx="28705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8345" y="1182705"/>
            <a:ext cx="17151310" cy="7921590"/>
            <a:chOff x="0" y="0"/>
            <a:chExt cx="4517218" cy="20863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7218" cy="2086345"/>
            </a:xfrm>
            <a:custGeom>
              <a:avLst/>
              <a:gdLst/>
              <a:ahLst/>
              <a:cxnLst/>
              <a:rect l="l" t="t" r="r" b="b"/>
              <a:pathLst>
                <a:path w="4517218" h="2086345">
                  <a:moveTo>
                    <a:pt x="15347" y="0"/>
                  </a:moveTo>
                  <a:lnTo>
                    <a:pt x="4501871" y="0"/>
                  </a:lnTo>
                  <a:cubicBezTo>
                    <a:pt x="4510346" y="0"/>
                    <a:pt x="4517218" y="6871"/>
                    <a:pt x="4517218" y="15347"/>
                  </a:cubicBezTo>
                  <a:lnTo>
                    <a:pt x="4517218" y="2070997"/>
                  </a:lnTo>
                  <a:cubicBezTo>
                    <a:pt x="4517218" y="2075068"/>
                    <a:pt x="4515601" y="2078972"/>
                    <a:pt x="4512723" y="2081850"/>
                  </a:cubicBezTo>
                  <a:cubicBezTo>
                    <a:pt x="4509844" y="2084728"/>
                    <a:pt x="4505941" y="2086345"/>
                    <a:pt x="4501871" y="2086345"/>
                  </a:cubicBezTo>
                  <a:lnTo>
                    <a:pt x="15347" y="2086345"/>
                  </a:lnTo>
                  <a:cubicBezTo>
                    <a:pt x="11277" y="2086345"/>
                    <a:pt x="7373" y="2084728"/>
                    <a:pt x="4495" y="2081850"/>
                  </a:cubicBezTo>
                  <a:cubicBezTo>
                    <a:pt x="1617" y="2078972"/>
                    <a:pt x="0" y="2075068"/>
                    <a:pt x="0" y="2070997"/>
                  </a:cubicBezTo>
                  <a:lnTo>
                    <a:pt x="0" y="15347"/>
                  </a:lnTo>
                  <a:cubicBezTo>
                    <a:pt x="0" y="11277"/>
                    <a:pt x="1617" y="7373"/>
                    <a:pt x="4495" y="4495"/>
                  </a:cubicBezTo>
                  <a:cubicBezTo>
                    <a:pt x="7373" y="1617"/>
                    <a:pt x="11277" y="0"/>
                    <a:pt x="15347" y="0"/>
                  </a:cubicBezTo>
                  <a:close/>
                </a:path>
              </a:pathLst>
            </a:custGeom>
            <a:ln w="19050" cap="rnd">
              <a:solidFill>
                <a:srgbClr val="8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17218" cy="2143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  <a:p>
              <a:pPr algn="ctr">
                <a:lnSpc>
                  <a:spcPts val="2940"/>
                </a:lnSpc>
              </a:pPr>
              <a:endParaRPr lang="en-US" sz="21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1242123" y="3321138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7" y="0"/>
                </a:lnTo>
                <a:lnTo>
                  <a:pt x="6017177" y="5929335"/>
                </a:lnTo>
                <a:lnTo>
                  <a:pt x="0" y="5929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84499" y="4077393"/>
            <a:ext cx="780254" cy="699655"/>
            <a:chOff x="0" y="0"/>
            <a:chExt cx="1040339" cy="932873"/>
          </a:xfrm>
        </p:grpSpPr>
        <p:grpSp>
          <p:nvGrpSpPr>
            <p:cNvPr id="7" name="Group 7"/>
            <p:cNvGrpSpPr/>
            <p:nvPr/>
          </p:nvGrpSpPr>
          <p:grpSpPr>
            <a:xfrm>
              <a:off x="53733" y="0"/>
              <a:ext cx="932873" cy="932873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C775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97722"/>
              <a:ext cx="1040339" cy="6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3"/>
                </a:lnSpc>
                <a:spcBef>
                  <a:spcPct val="0"/>
                </a:spcBef>
              </a:pPr>
              <a:r>
                <a:rPr lang="en-US" sz="278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84499" y="5935978"/>
            <a:ext cx="780254" cy="699655"/>
            <a:chOff x="0" y="0"/>
            <a:chExt cx="1040339" cy="932873"/>
          </a:xfrm>
        </p:grpSpPr>
        <p:grpSp>
          <p:nvGrpSpPr>
            <p:cNvPr id="12" name="Group 12"/>
            <p:cNvGrpSpPr/>
            <p:nvPr/>
          </p:nvGrpSpPr>
          <p:grpSpPr>
            <a:xfrm>
              <a:off x="53733" y="0"/>
              <a:ext cx="932873" cy="93287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C775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97722"/>
              <a:ext cx="1040339" cy="6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3"/>
                </a:lnSpc>
                <a:spcBef>
                  <a:spcPct val="0"/>
                </a:spcBef>
              </a:pPr>
              <a:r>
                <a:rPr lang="en-US" sz="278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4499" y="7797163"/>
            <a:ext cx="780254" cy="699655"/>
            <a:chOff x="0" y="0"/>
            <a:chExt cx="1040339" cy="932873"/>
          </a:xfrm>
        </p:grpSpPr>
        <p:grpSp>
          <p:nvGrpSpPr>
            <p:cNvPr id="17" name="Group 17"/>
            <p:cNvGrpSpPr/>
            <p:nvPr/>
          </p:nvGrpSpPr>
          <p:grpSpPr>
            <a:xfrm>
              <a:off x="53733" y="0"/>
              <a:ext cx="932873" cy="932873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C7753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97722"/>
              <a:ext cx="1040339" cy="6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3"/>
                </a:lnSpc>
                <a:spcBef>
                  <a:spcPct val="0"/>
                </a:spcBef>
              </a:pPr>
              <a:r>
                <a:rPr lang="en-US" sz="278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0398778" y="4457399"/>
            <a:ext cx="6965360" cy="3656814"/>
          </a:xfrm>
          <a:custGeom>
            <a:avLst/>
            <a:gdLst/>
            <a:ahLst/>
            <a:cxnLst/>
            <a:rect l="l" t="t" r="r" b="b"/>
            <a:pathLst>
              <a:path w="6965360" h="3656814">
                <a:moveTo>
                  <a:pt x="0" y="0"/>
                </a:moveTo>
                <a:lnTo>
                  <a:pt x="6965360" y="0"/>
                </a:lnTo>
                <a:lnTo>
                  <a:pt x="6965360" y="3656813"/>
                </a:lnTo>
                <a:lnTo>
                  <a:pt x="0" y="3656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062518" y="1904505"/>
            <a:ext cx="12162963" cy="91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85"/>
              </a:lnSpc>
              <a:spcBef>
                <a:spcPct val="0"/>
              </a:spcBef>
            </a:pPr>
            <a:r>
              <a:rPr lang="en-US" sz="541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Next </a:t>
            </a:r>
            <a:r>
              <a:rPr lang="en-US" sz="5418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Steps &amp; Future Enhancements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97091" y="3653790"/>
            <a:ext cx="7411003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Clustering Models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Benchmark K-Means results against hierarchical or density-based algorithms (e.g., DBSCAN) to analyze cluster boundaries further.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97091" y="5512375"/>
            <a:ext cx="7411003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Dashboard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Connect model outputs to Power BI or Streamlit to deliver real-time, visual reporting for non-technical stakeholders.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97091" y="7373560"/>
            <a:ext cx="7411003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Pipeline Monitoring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data drift checks to continuously audit synthetic data quality and maintain long-term model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338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Thank You for Reading!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38249" y="8852535"/>
            <a:ext cx="1312105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Full documentation, scripts, and codebase available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584</Words>
  <Application>Microsoft Office PowerPoint</Application>
  <PresentationFormat>Personalizado</PresentationFormat>
  <Paragraphs>76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Poppins Bold</vt:lpstr>
      <vt:lpstr>Arial</vt:lpstr>
      <vt:lpstr>Calibri</vt:lpstr>
      <vt:lpstr>Poppins</vt:lpstr>
      <vt:lpstr>Open Sauce Italics</vt:lpstr>
      <vt:lpstr>Open Sauce</vt:lpstr>
      <vt:lpstr>Open Sauce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Beige and Brown Simple Minimalist Clean Final Project Presentation</dc:title>
  <cp:lastModifiedBy>Camila Chivelli</cp:lastModifiedBy>
  <cp:revision>2</cp:revision>
  <dcterms:created xsi:type="dcterms:W3CDTF">2006-08-16T00:00:00Z</dcterms:created>
  <dcterms:modified xsi:type="dcterms:W3CDTF">2026-07-23T08:11:39Z</dcterms:modified>
  <dc:identifier>DAHQKoX54mU</dc:identifier>
</cp:coreProperties>
</file>